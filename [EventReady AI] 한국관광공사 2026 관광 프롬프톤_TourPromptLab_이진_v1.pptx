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05856" y="181051"/>
            <a:ext cx="31821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관광데이터 활용 공모전 - 생성형 AI 활용 관광 프롬프톤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67005" y="428854"/>
            <a:ext cx="8620049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2102" y="1000354"/>
            <a:ext cx="4734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TourPromptLab | 이진 · 유상수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3756" y="1352398"/>
            <a:ext cx="84774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EventReady AI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3756" y="1996135"/>
            <a:ext cx="8477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담당자용 방문객 관점 안내정보 사전 검증 솔루션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1305" y="3866998"/>
            <a:ext cx="4734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2026. 06. 09.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67005" y="256946"/>
            <a:ext cx="6077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소개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67005" y="428854"/>
            <a:ext cx="8620049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800100"/>
            <a:ext cx="42108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소개 및 핵심 미션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81144" y="1485900"/>
            <a:ext cx="9144" cy="329549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" y="1533449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TourPromptLab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3756" y="1914754"/>
            <a:ext cx="39246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팀은 공공 관광 산업 내 정보 공급자(지자체 및 축제 담당자) 관점의 품질 검증 인프라가 부재하다는 실무적 문제 인식에서 연구를 개시하였습니다.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" y="2745029"/>
            <a:ext cx="3924605" cy="1162202"/>
          </a:xfrm>
          <a:prstGeom prst="roundRect">
            <a:avLst>
              <a:gd name="adj" fmla="val 10318"/>
            </a:avLst>
          </a:prstGeom>
          <a:solidFill>
            <a:srgbClr val="F0F4FF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" y="2745029"/>
            <a:ext cx="38405" cy="1162202"/>
          </a:xfrm>
          <a:prstGeom prst="roundRect">
            <a:avLst>
              <a:gd name="adj" fmla="val 312254"/>
            </a:avLst>
          </a:prstGeom>
          <a:solidFill>
            <a:srgbClr val="0066FF"/>
          </a:solidFill>
          <a:ln w="12700">
            <a:solidFill>
              <a:srgbClr val="0066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4807" y="2888590"/>
            <a:ext cx="3600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미션 (Key Mission)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4807" y="3164738"/>
            <a:ext cx="36009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방문객 수요와 연동된 안내 데이터 사전 검증 구조를 확립하여, 공공 관광 정보 공급 품질 규격을 체계적으로 고도화하고 국내 관광지 신뢰성 향상에 기여합니다.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95444" y="1571854"/>
            <a:ext cx="4210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구성 및 R&amp;D 역할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95444" y="1962302"/>
          <a:ext cx="4210812" cy="1810512"/>
        </p:xfrm>
        <a:graphic>
          <a:graphicData uri="http://schemas.openxmlformats.org/drawingml/2006/table">
            <a:tbl>
              <a:tblPr/>
              <a:tblGrid>
                <a:gridCol w="1473098"/>
                <a:gridCol w="2736799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11111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 (직책)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11111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담당 업무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이진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066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팀장 / 기획</a:t>
                      </a:r>
                      <a:endParaRPr lang="en-US" sz="1200" dirty="0"/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서비스 기획, 문제 정의 및 요구사항 정립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정보 점검 프레임워크 설계 및 데이터 분석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시스템 프롬프트 및 점검 평가 모델 총괄 </a:t>
                      </a:r>
                      <a:endParaRPr lang="en-US" sz="1200" dirty="0"/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유상수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5815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팀원 / 개발</a:t>
                      </a:r>
                      <a:endParaRPr lang="en-US" sz="1200" dirty="0"/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공공 API Connector 데이터 파이프라인 연동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Visitor-QA Chain 점검 로직 구현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AI 대안 공지문 생성 엔진 및 검증 시뮬레이션 개발 </a:t>
                      </a:r>
                      <a:endParaRPr lang="en-US" sz="1200" dirty="0"/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67005" y="256946"/>
            <a:ext cx="6077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소개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67005" y="428854"/>
            <a:ext cx="8620049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800100"/>
            <a:ext cx="42108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인식 및 핵심 배경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37744" y="1438351"/>
            <a:ext cx="4209898" cy="2152498"/>
          </a:xfrm>
          <a:prstGeom prst="roundRect">
            <a:avLst>
              <a:gd name="adj" fmla="val 3007"/>
            </a:avLst>
          </a:prstGeom>
          <a:solidFill>
            <a:srgbClr val="FFF5F5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" y="1438351"/>
            <a:ext cx="38405" cy="2152498"/>
          </a:xfrm>
          <a:prstGeom prst="roundRect">
            <a:avLst>
              <a:gd name="adj" fmla="val 168562"/>
            </a:avLst>
          </a:prstGeom>
          <a:solidFill>
            <a:srgbClr val="E53E3E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8795" y="158099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관광 정보 공급 체계의 구조적 한계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0702" y="1886407"/>
            <a:ext cx="37152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위주의 편중성:</a:t>
            </a:r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다수의 시스템이 맞춤형 관광지 추천에 편중되어 있어, 정작 현장 방문 시 필요한 기초 행정 정보의 무결성 관리는 상대적으로 소외되어 있음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90702" y="2537460"/>
            <a:ext cx="37152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밀착형 정보 누락:</a:t>
            </a:r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우천 계획, 상세 시간표, 주차 공간 현황 등 수요자가 신뢰해야 할 필수 실무 데이터의 누적 누락 및 최신화 지연 지속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0702" y="2991002"/>
            <a:ext cx="37152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 신뢰도 저하:</a:t>
            </a:r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사전에 누락된 행사 안내 정보는 방문 예정객의 이탈 및 현장 민원 혼선 등 공공 서비스 전반의 품질 실추 야기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95444" y="1438351"/>
            <a:ext cx="4209898" cy="2152498"/>
          </a:xfrm>
          <a:prstGeom prst="roundRect">
            <a:avLst>
              <a:gd name="adj" fmla="val 3007"/>
            </a:avLst>
          </a:prstGeom>
          <a:solidFill>
            <a:srgbClr val="F0F9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95444" y="1438351"/>
            <a:ext cx="38405" cy="2152498"/>
          </a:xfrm>
          <a:prstGeom prst="roundRect">
            <a:avLst>
              <a:gd name="adj" fmla="val 168562"/>
            </a:avLst>
          </a:prstGeom>
          <a:solidFill>
            <a:srgbClr val="3182CE"/>
          </a:solidFill>
          <a:ln w="12700">
            <a:solidFill>
              <a:srgbClr val="3182CE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76495" y="158099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방향: 정보 공급자용(B2G) 데이터 사전 검증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48402" y="1886407"/>
            <a:ext cx="37152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간극 증명:</a:t>
            </a:r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전국 437개 공공 축제 실데이터의 전수 교차 분석을 바탕으로, 데이터 원본 구조와 현장 실제 수요 간 품질 간극 실재 규명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048402" y="2339035"/>
            <a:ext cx="37152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전 위험 제어:</a:t>
            </a:r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관광 데이터 공개 및 축제 개최 전에 품질 적합도 수준을 계량 평가하여 미비 정보를 자발적으로 환류 보완하도록 차단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48402" y="2792578"/>
            <a:ext cx="37152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B2G 품질 점검 모델 수립:</a:t>
            </a:r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일방향 데이터 단순 공급에서 탈피하여 공공 관광 콘텐츠의 실무 공급 신뢰성을 능동 모니터링하는 데이터 품질 검증망 확보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67005" y="256946"/>
            <a:ext cx="6077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소개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67005" y="428854"/>
            <a:ext cx="8620049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800100"/>
            <a:ext cx="42108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개요 및 핵심 기능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946" y="1571854"/>
            <a:ext cx="8620049" cy="1047902"/>
          </a:xfrm>
          <a:prstGeom prst="roundRect">
            <a:avLst>
              <a:gd name="adj" fmla="val 190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4749" y="1819656"/>
            <a:ext cx="81253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“공공 데이터 신뢰성 확보와 관광 안내 품질 고도화 동시 실현”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4749" y="2180844"/>
            <a:ext cx="8125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EventReady AI는 대고객 공개 전 정보 미비점을 정량 분석하여 완성도를 검증하는 수요자 대응형 데이터 진단 시스템입니다.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946" y="2952598"/>
            <a:ext cx="2781605" cy="146669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9651" y="3105302"/>
            <a:ext cx="2477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09651" y="3486607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방문객 관점 10대 핵심 지표 검증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9651" y="3752698"/>
            <a:ext cx="2477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방문 수요자의 질의 행동 데이터 분석에 기반하여 정의된 독자적 10대 안내 정보 표준 검사 적용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8454" y="2952598"/>
            <a:ext cx="2781605" cy="146669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30245" y="3105302"/>
            <a:ext cx="2477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330245" y="3486607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정량 위험 분류 체계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330245" y="3752698"/>
            <a:ext cx="24771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대상 누락에 따른 실무 영향도를 분석하여 엄격한 3단계 정량 분류 지표(🔴높음 / 🟡중간 / 🟢낮음) 매핑 및 모니터링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99048" y="2952598"/>
            <a:ext cx="2781605" cy="146669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1753" y="3105302"/>
            <a:ext cx="2477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51753" y="3486607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보완 대안 및 행정 시트 도출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251753" y="3752698"/>
            <a:ext cx="24771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누락 데이터 탐색 시, 임시 가이드 공지 문안의 기획 및 신속한 행정 조치 피드백을 지원하는 실무 조치표 자동 출력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67005" y="256946"/>
            <a:ext cx="6077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소개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67005" y="428854"/>
            <a:ext cx="8620049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800100"/>
            <a:ext cx="42108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입력˙출력 명세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946" y="1571854"/>
            <a:ext cx="4190695" cy="2971800"/>
          </a:xfrm>
          <a:prstGeom prst="roundRect">
            <a:avLst>
              <a:gd name="adj" fmla="val 15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7998" y="2000707"/>
            <a:ext cx="3829507" cy="1920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8" y="1752905"/>
            <a:ext cx="3829507" cy="1901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데이터 (Input Query)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998" y="1752905"/>
            <a:ext cx="57607" cy="57607"/>
          </a:xfrm>
          <a:prstGeom prst="ellipse">
            <a:avLst/>
          </a:prstGeom>
          <a:solidFill>
            <a:srgbClr val="006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7998" y="2133295"/>
            <a:ext cx="38295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연동을 희망하는 단일 대상 축제 명칭 혹은 지자체 공공 콘텐츠 진단 프롬프트를 수집 및 식별합니다.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7998" y="2633472"/>
            <a:ext cx="3829507" cy="381305"/>
          </a:xfrm>
          <a:prstGeom prst="roundRect">
            <a:avLst>
              <a:gd name="adj" fmla="val 71942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8" y="2633472"/>
            <a:ext cx="382950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강릉 단오제 정보 점검해줘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7998" y="3102559"/>
            <a:ext cx="3829507" cy="381305"/>
          </a:xfrm>
          <a:prstGeom prst="roundRect">
            <a:avLst>
              <a:gd name="adj" fmla="val 71942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7998" y="3102559"/>
            <a:ext cx="382950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경주 대릉원돌담길 축제 점검해줘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86300" y="1571854"/>
            <a:ext cx="4190695" cy="2971800"/>
          </a:xfrm>
          <a:prstGeom prst="roundRect">
            <a:avLst>
              <a:gd name="adj" fmla="val 15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7351" y="2000707"/>
            <a:ext cx="3829507" cy="1920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7351" y="1752905"/>
            <a:ext cx="3829507" cy="1901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결과 출력 (Output Report)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67351" y="1752905"/>
            <a:ext cx="57607" cy="57607"/>
          </a:xfrm>
          <a:prstGeom prst="ellipse">
            <a:avLst/>
          </a:prstGeom>
          <a:solidFill>
            <a:srgbClr val="006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7351" y="2133295"/>
            <a:ext cx="3829507" cy="2229307"/>
          </a:xfrm>
          <a:prstGeom prst="roundRect">
            <a:avLst>
              <a:gd name="adj" fmla="val 210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72507" y="2247595"/>
            <a:ext cx="19504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[EventReady AI 점검 결과 리포트]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972507" y="2423160"/>
            <a:ext cx="26755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대상: 강릉 단오제 (최종 진단 기준일: 2026.06.10)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72507" y="2598725"/>
            <a:ext cx="485546" cy="181051"/>
          </a:xfrm>
          <a:prstGeom prst="roundRect">
            <a:avLst>
              <a:gd name="adj" fmla="val 21265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72507" y="2598725"/>
            <a:ext cx="486461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12700" rIns="508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🟢충분 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05602" y="2598725"/>
            <a:ext cx="676656" cy="181051"/>
          </a:xfrm>
          <a:prstGeom prst="roundRect">
            <a:avLst>
              <a:gd name="adj" fmla="val 212653"/>
            </a:avLst>
          </a:prstGeom>
          <a:solidFill>
            <a:srgbClr val="FEF9C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05602" y="2598725"/>
            <a:ext cx="67665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12700" rIns="508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162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🟡일부부족 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23406" y="2598725"/>
            <a:ext cx="676656" cy="181051"/>
          </a:xfrm>
          <a:prstGeom prst="roundRect">
            <a:avLst>
              <a:gd name="adj" fmla="val 212653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23406" y="2598725"/>
            <a:ext cx="67665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12700" rIns="508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🔴확인필요 2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72507" y="2787091"/>
            <a:ext cx="6080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진단: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5435194" y="2787091"/>
            <a:ext cx="1405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 조치 권장 단계 도출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72507" y="3010205"/>
            <a:ext cx="36191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72507" y="3086100"/>
            <a:ext cx="20839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우천 시 운영 계획 데이터 미제공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568135" y="3086100"/>
            <a:ext cx="7680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(위험: 높음)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4972507" y="3261665"/>
            <a:ext cx="18982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행사 프로그램 상세 일정 누락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442862" y="3261665"/>
            <a:ext cx="7680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(위험: 높음)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72507" y="3484778"/>
            <a:ext cx="36191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72507" y="3560674"/>
            <a:ext cx="16175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[AI 대체 안내 공지문 가안]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972507" y="3736238"/>
            <a:ext cx="39108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"기상 변화에 따른 취소 여부는 공식 채널의 안내를 교차 확인 요망..."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4972507" y="3911803"/>
            <a:ext cx="14502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[담당자 조치 체크리스트]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4972507" y="4086454"/>
            <a:ext cx="2634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 비상 연락망 고정 | ☐ 타임라인 표 공지 등록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67005" y="256946"/>
            <a:ext cx="6077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소개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67005" y="428854"/>
            <a:ext cx="8620049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800100"/>
            <a:ext cx="42108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분석 및 처리 아키텍처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946" y="1524305"/>
            <a:ext cx="8620049" cy="409651"/>
          </a:xfrm>
          <a:prstGeom prst="roundRect">
            <a:avLst>
              <a:gd name="adj" fmla="val 622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9651" y="1628546"/>
            <a:ext cx="543154" cy="200254"/>
          </a:xfrm>
          <a:prstGeom prst="roundRect">
            <a:avLst>
              <a:gd name="adj" fmla="val 173951"/>
            </a:avLst>
          </a:prstGeom>
          <a:solidFill>
            <a:srgbClr val="006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9651" y="1628546"/>
            <a:ext cx="5431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93622" y="1633118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데이터 고유 식별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904134" y="1633118"/>
            <a:ext cx="133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216298" y="1647749"/>
            <a:ext cx="451713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데이터셋 연동을 통하여 일치하는 고유 코드(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)의 확인 및 매핑 정합성 검증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32734" y="1676095"/>
            <a:ext cx="1067105" cy="142646"/>
          </a:xfrm>
          <a:prstGeom prst="roundRect">
            <a:avLst>
              <a:gd name="adj" fmla="val 256411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32734" y="1676095"/>
            <a:ext cx="1067105" cy="143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12700" rIns="63500" bIns="127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searchFestival2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74613" y="1676095"/>
            <a:ext cx="685800" cy="142646"/>
          </a:xfrm>
          <a:prstGeom prst="roundRect">
            <a:avLst>
              <a:gd name="adj" fmla="val 256411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4613" y="1676095"/>
            <a:ext cx="685800" cy="143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12700" rIns="63500" bIns="127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946" y="2009851"/>
            <a:ext cx="8620049" cy="409651"/>
          </a:xfrm>
          <a:prstGeom prst="roundRect">
            <a:avLst>
              <a:gd name="adj" fmla="val 622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9651" y="2115007"/>
            <a:ext cx="543154" cy="200254"/>
          </a:xfrm>
          <a:prstGeom prst="roundRect">
            <a:avLst>
              <a:gd name="adj" fmla="val 173951"/>
            </a:avLst>
          </a:prstGeom>
          <a:solidFill>
            <a:srgbClr val="006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9651" y="2115007"/>
            <a:ext cx="5431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3622" y="2119579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속성 데이터 파싱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904134" y="2119579"/>
            <a:ext cx="133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090111" y="2133295"/>
            <a:ext cx="5266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상시 연동하여 대표 문의 번호, 상세 주소, 대표 이미지, 공식 도메인 정합성 추출 및 수집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32734" y="2162556"/>
            <a:ext cx="933602" cy="142646"/>
          </a:xfrm>
          <a:prstGeom prst="roundRect">
            <a:avLst>
              <a:gd name="adj" fmla="val 256411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32734" y="2162556"/>
            <a:ext cx="933602" cy="143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12700" rIns="63500" bIns="127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detailCommon2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946" y="2495398"/>
            <a:ext cx="8620049" cy="571500"/>
          </a:xfrm>
          <a:prstGeom prst="roundRect">
            <a:avLst>
              <a:gd name="adj" fmla="val 3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9651" y="2600554"/>
            <a:ext cx="543154" cy="362102"/>
          </a:xfrm>
          <a:prstGeom prst="roundRect">
            <a:avLst>
              <a:gd name="adj" fmla="val 53163"/>
            </a:avLst>
          </a:prstGeom>
          <a:solidFill>
            <a:srgbClr val="006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9651" y="2600554"/>
            <a:ext cx="543154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87222" y="2686507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이용 정보 적재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896819" y="2686507"/>
            <a:ext cx="133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019702" y="2619756"/>
            <a:ext cx="470641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연계를 통해 운영 스케줄, 관람 요금 한도, 프로그램 구성 등 이용 사양을 정밀 분류 후 타겟 시스템에 전달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25419" y="2648102"/>
            <a:ext cx="875995" cy="142646"/>
          </a:xfrm>
          <a:prstGeom prst="roundRect">
            <a:avLst>
              <a:gd name="adj" fmla="val 256411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25419" y="2648102"/>
            <a:ext cx="876910" cy="143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12700" rIns="63500" bIns="127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detailIntro2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6946" y="3143707"/>
            <a:ext cx="8620049" cy="409651"/>
          </a:xfrm>
          <a:prstGeom prst="roundRect">
            <a:avLst>
              <a:gd name="adj" fmla="val 622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946" y="3143707"/>
            <a:ext cx="38405" cy="409651"/>
          </a:xfrm>
          <a:prstGeom prst="roundRect">
            <a:avLst>
              <a:gd name="adj" fmla="val 664448"/>
            </a:avLst>
          </a:prstGeom>
          <a:solidFill>
            <a:srgbClr val="0066FF"/>
          </a:solidFill>
          <a:ln w="12700">
            <a:solidFill>
              <a:srgbClr val="0066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7998" y="3247949"/>
            <a:ext cx="543154" cy="200254"/>
          </a:xfrm>
          <a:prstGeom prst="roundRect">
            <a:avLst>
              <a:gd name="adj" fmla="val 173951"/>
            </a:avLst>
          </a:prstGeom>
          <a:solidFill>
            <a:srgbClr val="006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7998" y="3247949"/>
            <a:ext cx="5431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2883" y="3252521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Visitor-QA Chain 가동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932481" y="3252521"/>
            <a:ext cx="133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3161081" y="3267151"/>
            <a:ext cx="5842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자사 설계 알고리즘인 </a:t>
            </a:r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'방문객 10대 관점 지표'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적용하여 필수 항목의 구체성 및 공급 품질 전수 진단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946" y="3629254"/>
            <a:ext cx="8620049" cy="409651"/>
          </a:xfrm>
          <a:prstGeom prst="roundRect">
            <a:avLst>
              <a:gd name="adj" fmla="val 622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9651" y="3733495"/>
            <a:ext cx="543154" cy="200254"/>
          </a:xfrm>
          <a:prstGeom prst="roundRect">
            <a:avLst>
              <a:gd name="adj" fmla="val 173951"/>
            </a:avLst>
          </a:prstGeom>
          <a:solidFill>
            <a:srgbClr val="006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09651" y="3733495"/>
            <a:ext cx="5431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93622" y="3738982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행정 위험 분류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2904134" y="3738982"/>
            <a:ext cx="133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132734" y="3752698"/>
            <a:ext cx="62124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위해 수준 점수(🔴높음 / 🟡중간 / 🟢낮음)에 상응하는 리스크 계량 지표 매핑 및 위기 경보 단계 판정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6946" y="4114800"/>
            <a:ext cx="8620049" cy="409651"/>
          </a:xfrm>
          <a:prstGeom prst="roundRect">
            <a:avLst>
              <a:gd name="adj" fmla="val 622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9651" y="4219956"/>
            <a:ext cx="543154" cy="200254"/>
          </a:xfrm>
          <a:prstGeom prst="roundRect">
            <a:avLst>
              <a:gd name="adj" fmla="val 173951"/>
            </a:avLst>
          </a:prstGeom>
          <a:solidFill>
            <a:srgbClr val="006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09651" y="4219956"/>
            <a:ext cx="5431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093622" y="4224528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검증 리포트 배포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2904134" y="4224528"/>
            <a:ext cx="133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3132734" y="4238244"/>
            <a:ext cx="6143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공지문 대안 가안 및 보강을 보좌하는 담당 지자체용 전용 행정 점검 대장 시트 패키지 신속 패싱 및 출력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67005" y="256946"/>
            <a:ext cx="6077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소개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67005" y="428854"/>
            <a:ext cx="8620049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800100"/>
            <a:ext cx="42108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 데이터 검증 사례 (강릉 단오제)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946" y="1476756"/>
            <a:ext cx="28346" cy="190195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" y="1476756"/>
            <a:ext cx="4087368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무결성 정량 진단 결과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946" y="1762049"/>
            <a:ext cx="4190695" cy="2533802"/>
          </a:xfrm>
          <a:prstGeom prst="roundRect">
            <a:avLst>
              <a:gd name="adj" fmla="val 21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9651" y="1914754"/>
            <a:ext cx="3886200" cy="362102"/>
          </a:xfrm>
          <a:prstGeom prst="roundRect">
            <a:avLst>
              <a:gd name="adj" fmla="val 797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282" y="2000707"/>
            <a:ext cx="1161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🟢 가용 양호 5건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928470" y="2000707"/>
            <a:ext cx="1161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🟡 세부 누락 3건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198571" y="2000707"/>
            <a:ext cx="1161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중대 결함 2건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09651" y="2391156"/>
            <a:ext cx="3292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[의사 결정] 원천 데이터 품질 보강 조치 필수 단계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2399" y="2683764"/>
            <a:ext cx="619049" cy="181051"/>
          </a:xfrm>
          <a:prstGeom prst="roundRect">
            <a:avLst>
              <a:gd name="adj" fmla="val 15949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22399" y="2683764"/>
            <a:ext cx="67025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12700" rIns="508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위험도: 높음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52298" y="2882189"/>
            <a:ext cx="3743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 데이터 셋 미기재로 확인됨. 우천 시 취소 우려 등으로 관람객 이탈 및 불만 극대화 위험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167128" y="3312871"/>
            <a:ext cx="619049" cy="181051"/>
          </a:xfrm>
          <a:prstGeom prst="roundRect">
            <a:avLst>
              <a:gd name="adj" fmla="val 15949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67128" y="3312871"/>
            <a:ext cx="67025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12700" rIns="508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위험도: 높음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52298" y="3510382"/>
            <a:ext cx="39630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정보 부재로 인해 동선의 체계적 지원 불가능 및 현장 극심한 체증 위험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68373" y="3773729"/>
            <a:ext cx="619049" cy="181051"/>
          </a:xfrm>
          <a:prstGeom prst="roundRect">
            <a:avLst>
              <a:gd name="adj" fmla="val 159490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68373" y="3773729"/>
            <a:ext cx="67025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12700" rIns="508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위험도: 중간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52298" y="3971239"/>
            <a:ext cx="3743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특화 시간 편차 정보 규격 검증 미달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86300" y="1476756"/>
            <a:ext cx="28346" cy="190195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90542" y="1476756"/>
            <a:ext cx="4087368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지원 임시 행정 가이드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6300" y="1762049"/>
            <a:ext cx="4190695" cy="1037844"/>
          </a:xfrm>
          <a:prstGeom prst="roundRect">
            <a:avLst>
              <a:gd name="adj" fmla="val 129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86300" y="1762049"/>
            <a:ext cx="4191610" cy="10387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[지자체 대응형 임시 공지사항 가안]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"강릉 단오제 방문 예정 고객께서는 기상 악화 시 공식 우천 안내 정보 및 행사별 세부 변경 스케줄을 홈페이지(danojefestival.or.kr) 또는 전용 대책 위원회 사무국(033-641-1593)을 통해 필히 사전 검수 바랍니다." 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86300" y="2941625"/>
            <a:ext cx="4190695" cy="1037844"/>
          </a:xfrm>
          <a:prstGeom prst="roundRect">
            <a:avLst>
              <a:gd name="adj" fmla="val 129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39005" y="3103474"/>
            <a:ext cx="165963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[담당 부서 실무 행정 지침]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009998" y="3276295"/>
            <a:ext cx="3715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 모바일 접근용 비상 운영계획 팝업 링크 유효성 상시 확인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009998" y="3460090"/>
            <a:ext cx="3715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 체험별 시간 계획표 PDF 파일 다운로드 데이터 안정성 검수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009998" y="3642970"/>
            <a:ext cx="3715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☐ 주변 통제 구간 및 임시 주차 동선 표지 안내 배치 점검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67005" y="256946"/>
            <a:ext cx="6077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소개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67005" y="428854"/>
            <a:ext cx="8620049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800100"/>
            <a:ext cx="42108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한국관광공사 OpenAPI 연계 현황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946" y="1429207"/>
            <a:ext cx="5533949" cy="304495"/>
          </a:xfrm>
          <a:prstGeom prst="roundRect">
            <a:avLst>
              <a:gd name="adj" fmla="val 75075"/>
            </a:avLst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946" y="1429207"/>
            <a:ext cx="553486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76200" rIns="114300" bIns="762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실제 구현 부서 연동 및 정상 트랜잭션 전송 검증을 필한 국문 관광정보 서비스(KorService2) 연계 설계 내역입니다.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946" y="1895551"/>
          <a:ext cx="8620963" cy="1953158"/>
        </p:xfrm>
        <a:graphic>
          <a:graphicData uri="http://schemas.openxmlformats.org/drawingml/2006/table">
            <a:tbl>
              <a:tblPr/>
              <a:tblGrid>
                <a:gridCol w="2155241"/>
                <a:gridCol w="2155241"/>
                <a:gridCol w="4310482"/>
              </a:tblGrid>
              <a:tr h="4882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연계 API 오퍼레이션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주요 수집 데이터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시스템 내부 분석 및 처리 프로세스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82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searchFestival2</a:t>
                      </a:r>
                      <a:endParaRPr lang="en-US" sz="90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축제 대상 고유 식별 코드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지정 축제 명칭 정합성에 일치하는 원천 정보 식별 키(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contentId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)의 자동 탐색 및 파싱</a:t>
                      </a:r>
                      <a:endParaRPr lang="en-US" sz="1200" dirty="0"/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2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detailCommon2</a:t>
                      </a:r>
                      <a:endParaRPr lang="en-US" sz="90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주소, 연락처, 홈 주소, 이미지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축제 관리 부서 소관 공식 사이트, 전용 민원 수신 전화번호 및 행사장 주소를 파이프라인 정량 매핑 시스템에 탑재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2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detailIntro2</a:t>
                      </a:r>
                      <a:endParaRPr lang="en-US" sz="90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 범위, 요금 정보, 프로그램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세부 일정, 요금 단가, 구성 항목을 지자체 가용 데이터로부터 집계 후 Visitor-QA 알고리즘 분석용 스펙화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56946" y="3991356"/>
            <a:ext cx="8620049" cy="819302"/>
          </a:xfrm>
          <a:prstGeom prst="roundRect">
            <a:avLst>
              <a:gd name="adj" fmla="val 15573"/>
            </a:avLst>
          </a:prstGeom>
          <a:solidFill>
            <a:srgbClr val="F0F7FF"/>
          </a:solidFill>
          <a:ln w="12700">
            <a:solidFill>
              <a:srgbClr val="C4E2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946" y="3991356"/>
            <a:ext cx="8620963" cy="8193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14300" rIns="139700" bIns="1143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[API 데이터 파이프라인 통합 정량 진단 가치]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한국관광공사 국문 관광정보의 핵심 API 3종을 통합 체인으로 계층화했습니다. 이를 바탕으로 단순한 단일 데이터 필드의 기재 여부 검수 단계에서 진일보하여, </a:t>
            </a:r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방문객 관점의 실무 정보 완성도 지수 및 정보 무결성 정량 판단</a:t>
            </a:r>
            <a:pPr algn="l"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입증하는 데 기여했습니다. 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67005" y="256946"/>
            <a:ext cx="6077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소개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67005" y="428854"/>
            <a:ext cx="8620049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800100"/>
            <a:ext cx="42108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시행착오 및 해결방안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438498" y="1476756"/>
            <a:ext cx="9144" cy="33339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946" y="1724558"/>
            <a:ext cx="4038905" cy="1920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946" y="1476756"/>
            <a:ext cx="4038905" cy="1901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도전 과제 (Obstacles)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946" y="1857146"/>
            <a:ext cx="4038905" cy="761695"/>
          </a:xfrm>
          <a:prstGeom prst="roundRect">
            <a:avLst>
              <a:gd name="adj" fmla="val 18007"/>
            </a:avLst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946" y="1857146"/>
            <a:ext cx="28346" cy="761695"/>
          </a:xfrm>
          <a:prstGeom prst="roundRect">
            <a:avLst>
              <a:gd name="adj" fmla="val 483878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946" y="1857146"/>
            <a:ext cx="4038905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01600" rIns="1143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초기 분석 가설 검증 보완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API 공백률 통계 확인 결과, 누락 비율이 가설 대비 낮게 도출됨에 따라 실무적으로 가치 있는 진단 방향성 재정립이 요구됨 </a:t>
            </a:r>
            <a:endParaRPr lang="en-US" sz="900" dirty="0"/>
          </a:p>
        </p:txBody>
      </p:sp>
      <p:pic>
        <p:nvPicPr>
          <p:cNvPr id="12" name="Image 0" descr="gen-dedup-34e98b875deb482c5745425c303c1069.png">    </p:cNvPr>
          <p:cNvPicPr>
            <a:picLocks noChangeAspect="1"/>
          </p:cNvPicPr>
          <p:nvPr/>
        </p:nvPicPr>
        <p:blipFill>
          <a:blip r:embed="rId1"/>
          <a:srcRect l="0" r="0" t="-166" b="-166"/>
          <a:stretch/>
        </p:blipFill>
        <p:spPr>
          <a:xfrm>
            <a:off x="256946" y="2692908"/>
            <a:ext cx="4038905" cy="77175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56946" y="2692908"/>
            <a:ext cx="4038905" cy="771754"/>
          </a:xfrm>
          <a:prstGeom prst="roundRect">
            <a:avLst>
              <a:gd name="adj" fmla="val 17553"/>
            </a:avLst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9593" y="2692908"/>
            <a:ext cx="3896258" cy="7717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01600" rIns="1143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API 통신 데이터 규격 최적화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연동 모듈 파라미터 적용 중 미지원 변수(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listYN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등) 혼선으로 인한 통신 장애 사전 탐지 및 세밀 차단 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00507" y="3014777"/>
            <a:ext cx="647395" cy="161849"/>
          </a:xfrm>
          <a:prstGeom prst="roundRect">
            <a:avLst>
              <a:gd name="adj" fmla="val 199402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0507" y="3014777"/>
            <a:ext cx="747065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12700" rIns="381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KorService2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56946" y="3538728"/>
            <a:ext cx="4038905" cy="761695"/>
          </a:xfrm>
          <a:prstGeom prst="roundRect">
            <a:avLst>
              <a:gd name="adj" fmla="val 18007"/>
            </a:avLst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6946" y="3538728"/>
            <a:ext cx="28346" cy="761695"/>
          </a:xfrm>
          <a:prstGeom prst="roundRect">
            <a:avLst>
              <a:gd name="adj" fmla="val 483878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56946" y="3538728"/>
            <a:ext cx="4038905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01600" rIns="1143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데이터 수요-공급의 구조적 왜곡 식증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API의 텍스트가 단순히 존재하더라도, 기상 위험 요건이나 세부 일자별 일정처럼 실제 방문자가 요구하는 실시간 대응 가치 간극 존재를 밝힘 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828946" y="1724558"/>
            <a:ext cx="4048049" cy="1920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28946" y="1476756"/>
            <a:ext cx="4048963" cy="1901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개선 시도 및 결과 (Solutions)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28946" y="1857146"/>
            <a:ext cx="4048049" cy="761695"/>
          </a:xfrm>
          <a:prstGeom prst="roundRect">
            <a:avLst>
              <a:gd name="adj" fmla="val 18007"/>
            </a:avLst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28946" y="1857146"/>
            <a:ext cx="28346" cy="761695"/>
          </a:xfrm>
          <a:prstGeom prst="roundRect">
            <a:avLst>
              <a:gd name="adj" fmla="val 483878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28946" y="1857146"/>
            <a:ext cx="4048963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01600" rIns="1143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공인 표준 연동 규격 통일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미지원 인자값을 전면 차단하고, 인증된 실시간 원천 커넥터를 적용하여 호출 신뢰성을 100% 한도까지 최적화하는 데 성공함 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828946" y="2692908"/>
            <a:ext cx="4048049" cy="761695"/>
          </a:xfrm>
          <a:prstGeom prst="roundRect">
            <a:avLst>
              <a:gd name="adj" fmla="val 18007"/>
            </a:avLst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28946" y="2692908"/>
            <a:ext cx="28346" cy="761695"/>
          </a:xfrm>
          <a:prstGeom prst="roundRect">
            <a:avLst>
              <a:gd name="adj" fmla="val 483878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28946" y="2692908"/>
            <a:ext cx="4048963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01600" rIns="1143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전국 437개 공공 축제 데이터 전수 실증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전국 규모의 축제 공공 DB에 대한 전수 데이터 정밀 교차 탐색을 실행하여 실제 정보 누락과 세부 사정 정보 부재 실태를 객관적으로 증명함 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828946" y="3528670"/>
            <a:ext cx="4048049" cy="761695"/>
          </a:xfrm>
          <a:prstGeom prst="roundRect">
            <a:avLst>
              <a:gd name="adj" fmla="val 18007"/>
            </a:avLst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28946" y="3528670"/>
            <a:ext cx="28346" cy="761695"/>
          </a:xfrm>
          <a:prstGeom prst="roundRect">
            <a:avLst>
              <a:gd name="adj" fmla="val 483878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28946" y="3528670"/>
            <a:ext cx="4048963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01600" rIns="1143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Visitor-QA Chain 고도화 수립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정보 검토 모델을 단순 필터에서 '계량 위험 수준 분류 알고리즘'으로 설계하여 데이터의 완성도를 자동 채점 및 공표하도록 정립함 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67005" y="256946"/>
            <a:ext cx="6077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팀 서비스를 마무리하며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67005" y="428854"/>
            <a:ext cx="8620049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800100"/>
            <a:ext cx="42108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 및 미래 로드맵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81144" y="1485900"/>
            <a:ext cx="9144" cy="329549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" y="1733702"/>
            <a:ext cx="4190695" cy="1920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" y="1476756"/>
            <a:ext cx="41916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 및 발전 계획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" y="1867205"/>
            <a:ext cx="4191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📦</a:t>
            </a:r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측면 (Product) 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37744" y="2085746"/>
            <a:ext cx="4191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 437개 축제를 넘어 주요 등록 자연 경관 및 공공 시설물까지 실시간 데이터 무결성 점검 체계를 전면 확장하고 정기 자동 모니터링 구독 서비스 구축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37744" y="2510028"/>
            <a:ext cx="4191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💼</a:t>
            </a:r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측면 (Business) 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" y="2728570"/>
            <a:ext cx="4191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및 관광 정보 총괄 지주 재단 타겟의 프리미엄급 B2G 정량 품질 보증 라이선싱 안 수립, 공공 관광 데이터 품질 공인 검인증 시스템 도입 목표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" y="3152851"/>
            <a:ext cx="4191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⚙️</a:t>
            </a:r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측면 (Technology) 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" y="3372307"/>
            <a:ext cx="4191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 LLM 에이전트 계층을 반영하여 데이터 오탐률을 정제하고, 지자체 관리자 전용 SaaS 하이브리드 웹/앱 상용화 배포 가속화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934102" y="1733702"/>
            <a:ext cx="4095598" cy="1920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4102" y="1476756"/>
            <a:ext cx="40965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수행 소회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4102" y="1867205"/>
            <a:ext cx="4095598" cy="1705356"/>
          </a:xfrm>
          <a:prstGeom prst="roundRect">
            <a:avLst>
              <a:gd name="adj" fmla="val 4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0056" y="1923898"/>
            <a:ext cx="113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086807" y="2018995"/>
            <a:ext cx="3791102" cy="1153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 팀은 공공 관광 분야 생성형 AI 활용에 대한 패러다임을 혁신적으로 다듬어 보았습니다. 실 수요자가 체감하는 정보의 결핍은 단순한 알고리즘 추천의 부족이 아닌 기초 데이터 공급 품질 관리(Data Quality Control) 체계의 약화였습니다.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b="1" i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EventReady AI</a:t>
            </a:r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대한민국 공공 데이터 품질을 수호하고 수요자에게 정직한 관광 인프라를 제공하는 주도적 기틀이 되길 소망합니다. 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086807" y="3240634"/>
            <a:ext cx="37911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TourPromptLab 팀장 이진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34102" y="3711550"/>
            <a:ext cx="4095598" cy="552298"/>
          </a:xfrm>
          <a:prstGeom prst="roundRect">
            <a:avLst>
              <a:gd name="adj" fmla="val 34254"/>
            </a:avLst>
          </a:prstGeom>
          <a:solidFill>
            <a:srgbClr val="F0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4102" y="3711550"/>
            <a:ext cx="4096512" cy="5532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품질 통제(QC) 기술 혁신으로 국내 공공 관광 정보 신뢰성을 수호합니다.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2026-06-09T15:16:10Z</dcterms:created>
  <dcterms:modified xsi:type="dcterms:W3CDTF">2026-06-09T15:16:10Z</dcterms:modified>
</cp:coreProperties>
</file>